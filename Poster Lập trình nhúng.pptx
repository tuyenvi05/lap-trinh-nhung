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603" y="-164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58F227CF-116B-B33A-B001-808E79935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807" y="1401467"/>
            <a:ext cx="550800" cy="539929"/>
          </a:xfrm>
          <a:prstGeom prst="rect">
            <a:avLst/>
          </a:prstGeom>
          <a:noFill/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654995"/>
              </p:ext>
            </p:extLst>
          </p:nvPr>
        </p:nvGraphicFramePr>
        <p:xfrm>
          <a:off x="71979" y="2356347"/>
          <a:ext cx="3890421" cy="1433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38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pPr algn="just"/>
                      <a:r>
                        <a:rPr lang="en-US" sz="900" smtClean="0">
                          <a:latin typeface="Arial" panose="020B0604020202020204" pitchFamily="34" charset="0"/>
                          <a:cs typeface="Arial Hebrew Scholar"/>
                        </a:rPr>
                        <a:t>AlphaBot</a:t>
                      </a:r>
                      <a:r>
                        <a:rPr lang="en-US" sz="900" baseline="0" smtClean="0">
                          <a:latin typeface="Arial" panose="020B0604020202020204" pitchFamily="34" charset="0"/>
                          <a:cs typeface="Arial Hebrew Scholar"/>
                        </a:rPr>
                        <a:t> được phát triển thêm các chức năng sử dụng Arduino Uno </a:t>
                      </a:r>
                      <a:r>
                        <a:rPr lang="vi-VN" sz="900" smtClean="0">
                          <a:latin typeface="Arial" panose="020B0604020202020204" pitchFamily="34" charset="0"/>
                          <a:cs typeface="Arial Hebrew Scholar"/>
                        </a:rPr>
                        <a:t>. </a:t>
                      </a:r>
                      <a:r>
                        <a:rPr lang="en-US" sz="900">
                          <a:latin typeface="Arial" panose="020B0604020202020204" pitchFamily="34" charset="0"/>
                          <a:cs typeface="Arial Hebrew Scholar"/>
                        </a:rPr>
                        <a:t>Các chức năng của </a:t>
                      </a:r>
                      <a:r>
                        <a:rPr lang="en-US" sz="900" smtClean="0">
                          <a:latin typeface="Arial" panose="020B0604020202020204" pitchFamily="34" charset="0"/>
                          <a:cs typeface="Arial Hebrew Scholar"/>
                        </a:rPr>
                        <a:t>AlphaBot </a:t>
                      </a:r>
                      <a:r>
                        <a:rPr lang="en-US" sz="900">
                          <a:latin typeface="Arial" panose="020B0604020202020204" pitchFamily="34" charset="0"/>
                          <a:cs typeface="Arial Hebrew Scholar"/>
                        </a:rPr>
                        <a:t>bao gồm</a:t>
                      </a:r>
                      <a:r>
                        <a:rPr lang="vi-VN" sz="900" smtClean="0">
                          <a:latin typeface="Arial" panose="020B0604020202020204" pitchFamily="34" charset="0"/>
                          <a:cs typeface="Arial Hebrew Scholar"/>
                        </a:rPr>
                        <a:t>:</a:t>
                      </a:r>
                      <a:endParaRPr lang="en-US" sz="900" smtClean="0">
                        <a:latin typeface="Arial" panose="020B0604020202020204" pitchFamily="34" charset="0"/>
                        <a:cs typeface="Arial Hebrew Scholar"/>
                      </a:endParaRP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900" smtClean="0">
                          <a:latin typeface="Arial" panose="020B0604020202020204" pitchFamily="34" charset="0"/>
                          <a:cs typeface="Arial Hebrew Scholar"/>
                        </a:rPr>
                        <a:t>Dò</a:t>
                      </a:r>
                      <a:r>
                        <a:rPr lang="en-US" sz="900" baseline="0" smtClean="0">
                          <a:latin typeface="Arial" panose="020B0604020202020204" pitchFamily="34" charset="0"/>
                          <a:cs typeface="Arial Hebrew Scholar"/>
                        </a:rPr>
                        <a:t> đường line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900" baseline="0" smtClean="0">
                          <a:latin typeface="Arial" panose="020B0604020202020204" pitchFamily="34" charset="0"/>
                          <a:cs typeface="Arial Hebrew Scholar"/>
                        </a:rPr>
                        <a:t>Tránh vật cản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900" baseline="0" smtClean="0">
                          <a:latin typeface="Arial" panose="020B0604020202020204" pitchFamily="34" charset="0"/>
                          <a:cs typeface="Arial Hebrew Scholar"/>
                        </a:rPr>
                        <a:t>Đi theo người</a:t>
                      </a:r>
                      <a:endParaRPr lang="en-US" sz="900" smtClean="0">
                        <a:latin typeface="Arial" panose="020B0604020202020204" pitchFamily="34" charset="0"/>
                        <a:cs typeface="Arial Hebrew Scholar"/>
                      </a:endParaRP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endParaRPr lang="vi-VN" sz="90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694113"/>
              </p:ext>
            </p:extLst>
          </p:nvPr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Thật</a:t>
                      </a:r>
                      <a:r>
                        <a:rPr lang="en-US" sz="1000" b="1" baseline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toán sử dụng</a:t>
                      </a:r>
                      <a:endParaRPr lang="en-US" sz="10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40063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ERP</a:t>
                </a:r>
                <a:r>
                  <a:rPr lang="en-US" sz="1200" b="1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: </a:t>
                </a:r>
                <a:r>
                  <a:rPr lang="en-US" sz="1200" b="1" smtClean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ALPHABOT</a:t>
                </a:r>
                <a:endParaRPr lang="en-US" sz="1200" b="1" dirty="0">
                  <a:solidFill>
                    <a:schemeClr val="accent2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99" b="1" smtClean="0"/>
                  <a:t>Vi Sỹ Tuyên, Phùng Mạnh Đức, Hoàng Văn Dũng</a:t>
                </a:r>
                <a:endParaRPr lang="en-US" sz="799" b="1" dirty="0"/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056889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baseline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dụng thực tế</a:t>
                      </a:r>
                      <a:endParaRPr lang="en-US" sz="10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030742"/>
              </p:ext>
            </p:extLst>
          </p:nvPr>
        </p:nvGraphicFramePr>
        <p:xfrm>
          <a:off x="71978" y="3794556"/>
          <a:ext cx="3890421" cy="6055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2232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000" b="1" baseline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thiết bị sử dụng</a:t>
                      </a:r>
                      <a:endParaRPr lang="en-US" sz="10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81134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US" sz="10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486706"/>
              </p:ext>
            </p:extLst>
          </p:nvPr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278717"/>
              </p:ext>
            </p:extLst>
          </p:nvPr>
        </p:nvGraphicFramePr>
        <p:xfrm>
          <a:off x="4027950" y="8068432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 phát triển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Phát triển thêm các chức năng: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200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 cứu hộ, tìm kiếm vật thể hoặc người trong môi trường nguy hiểm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200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 trợ lý cá nhân cho người khuyết tật hoặc người lớn tuổi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>
                <a:latin typeface="Arial" panose="020B0604020202020204" pitchFamily="34" charset="0"/>
                <a:cs typeface="Arial Hebrew Scholar"/>
              </a:rPr>
              <a:t>©AIoTLab, Faculty of Information Technology, DaiNam University</a:t>
            </a:r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0562D391-43B6-D4F6-6532-81436F2CD571}"/>
              </a:ext>
            </a:extLst>
          </p:cNvPr>
          <p:cNvGrpSpPr/>
          <p:nvPr/>
        </p:nvGrpSpPr>
        <p:grpSpPr>
          <a:xfrm>
            <a:off x="4499195" y="6914797"/>
            <a:ext cx="719300" cy="1047123"/>
            <a:chOff x="4417915" y="6935117"/>
            <a:chExt cx="719300" cy="1047123"/>
          </a:xfrm>
        </p:grpSpPr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8F3BB07E-429A-4D1B-E75A-400FEBD0A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17915" y="6935117"/>
              <a:ext cx="658340" cy="648000"/>
            </a:xfrm>
            <a:prstGeom prst="rect">
              <a:avLst/>
            </a:prstGeom>
          </p:spPr>
        </p:pic>
        <p:grpSp>
          <p:nvGrpSpPr>
            <p:cNvPr id="1024" name="Group 1023">
              <a:extLst>
                <a:ext uri="{FF2B5EF4-FFF2-40B4-BE49-F238E27FC236}">
                  <a16:creationId xmlns:a16="http://schemas.microsoft.com/office/drawing/2014/main" id="{744A033B-ADB1-65DC-6E8B-77A248771067}"/>
                </a:ext>
              </a:extLst>
            </p:cNvPr>
            <p:cNvGrpSpPr/>
            <p:nvPr/>
          </p:nvGrpSpPr>
          <p:grpSpPr>
            <a:xfrm>
              <a:off x="4453949" y="7619477"/>
              <a:ext cx="683266" cy="362763"/>
              <a:chOff x="6071533" y="2197843"/>
              <a:chExt cx="683266" cy="367061"/>
            </a:xfrm>
          </p:grpSpPr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F232106F-BB02-AEDC-69E9-2BDE01BDE00D}"/>
                  </a:ext>
                </a:extLst>
              </p:cNvPr>
              <p:cNvSpPr txBox="1"/>
              <p:nvPr/>
            </p:nvSpPr>
            <p:spPr>
              <a:xfrm>
                <a:off x="6105590" y="2222338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Platform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26" name="Picture 4" descr="Github Logo - Free social media icons">
                <a:extLst>
                  <a:ext uri="{FF2B5EF4-FFF2-40B4-BE49-F238E27FC236}">
                    <a16:creationId xmlns:a16="http://schemas.microsoft.com/office/drawing/2014/main" id="{58468723-8BEE-E9A8-37F1-25D443A786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A4AE13E-261B-CCD9-0CCB-E209746E8442}"/>
              </a:ext>
            </a:extLst>
          </p:cNvPr>
          <p:cNvGrpSpPr/>
          <p:nvPr/>
        </p:nvGrpSpPr>
        <p:grpSpPr>
          <a:xfrm>
            <a:off x="5679061" y="6914401"/>
            <a:ext cx="725093" cy="1027194"/>
            <a:chOff x="5729861" y="6934721"/>
            <a:chExt cx="725093" cy="1027194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A6FA28E-24A2-971C-1329-B9C39D80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CF614D1B-5E22-CCB8-7095-13F12F04FD96}"/>
                </a:ext>
              </a:extLst>
            </p:cNvPr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3051B63-3463-6494-3CCA-F8F194D0A4B7}"/>
                  </a:ext>
                </a:extLst>
              </p:cNvPr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>
                <a:extLst>
                  <a:ext uri="{FF2B5EF4-FFF2-40B4-BE49-F238E27FC236}">
                    <a16:creationId xmlns:a16="http://schemas.microsoft.com/office/drawing/2014/main" id="{E7E7E365-5E2E-837C-A71B-F336329B5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7" name="Picture 36" descr="http://k1.arduino.vn/img/2014/05/22/0/479_1231-1400727929-0-arduinounosmd450px1.jpg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57" y="4464892"/>
            <a:ext cx="1706696" cy="9800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78657" y="4079096"/>
            <a:ext cx="2034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mtClean="0"/>
              <a:t>Arduino Uno</a:t>
            </a:r>
            <a:endParaRPr lang="en-US" sz="1200"/>
          </a:p>
        </p:txBody>
      </p:sp>
      <p:sp>
        <p:nvSpPr>
          <p:cNvPr id="4" name="TextBox 3"/>
          <p:cNvSpPr txBox="1"/>
          <p:nvPr/>
        </p:nvSpPr>
        <p:spPr>
          <a:xfrm>
            <a:off x="1747472" y="13201457"/>
            <a:ext cx="1081116" cy="774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9" name="Picture 4" descr="Hướng dẫn sử dụng Module cảm biến siêu âm HY-SRF05.::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906" y="4356095"/>
            <a:ext cx="1965856" cy="106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950906" y="4086300"/>
            <a:ext cx="2061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Cảm biến siêu âm</a:t>
            </a:r>
            <a:endParaRPr lang="en-US" sz="1200"/>
          </a:p>
        </p:txBody>
      </p:sp>
      <p:sp>
        <p:nvSpPr>
          <p:cNvPr id="11" name="TextBox 10"/>
          <p:cNvSpPr txBox="1"/>
          <p:nvPr/>
        </p:nvSpPr>
        <p:spPr>
          <a:xfrm>
            <a:off x="2533844" y="11640736"/>
            <a:ext cx="160841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030" name="Picture 6" descr="Thanh 5 cảm biến dò line TCRT5000 + tránh vật cản Line Follower Sensor  BFD-100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76" y="6201569"/>
            <a:ext cx="2144016" cy="132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23241" y="5754905"/>
            <a:ext cx="12314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mtClean="0"/>
              <a:t>Cảm biến dò line</a:t>
            </a:r>
            <a:endParaRPr lang="en-US" sz="1200"/>
          </a:p>
        </p:txBody>
      </p:sp>
      <p:pic>
        <p:nvPicPr>
          <p:cNvPr id="47" name="Picture 46" descr="Cảm Biến Vật Cản Hồng Ngoại - Nshop"/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906" y="6202811"/>
            <a:ext cx="1844883" cy="11627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1978758" y="5762159"/>
            <a:ext cx="1594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mtClean="0"/>
              <a:t>Cảm biến hồng ngoại</a:t>
            </a:r>
            <a:endParaRPr lang="en-US" sz="1200"/>
          </a:p>
        </p:txBody>
      </p:sp>
      <p:pic>
        <p:nvPicPr>
          <p:cNvPr id="48" name="Picture 47" descr="Động cơ DC giảm tốc vàng 2 trục 1:48"/>
          <p:cNvPicPr/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57" y="8161143"/>
            <a:ext cx="1795892" cy="144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Picture 48" descr="Mạch Điều Khiển Động Cơ DC L298N - Nshop"/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312" y="8132740"/>
            <a:ext cx="1558588" cy="129756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159229" y="7857430"/>
            <a:ext cx="1395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mtClean="0"/>
              <a:t>Động cơ DC</a:t>
            </a:r>
            <a:endParaRPr lang="en-US" sz="1200"/>
          </a:p>
        </p:txBody>
      </p:sp>
      <p:sp>
        <p:nvSpPr>
          <p:cNvPr id="15" name="TextBox 14"/>
          <p:cNvSpPr txBox="1"/>
          <p:nvPr/>
        </p:nvSpPr>
        <p:spPr>
          <a:xfrm>
            <a:off x="1620219" y="7876940"/>
            <a:ext cx="252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i="1"/>
              <a:t>Mạch điều khiển động cơ L298N</a:t>
            </a:r>
            <a:endParaRPr lang="en-US" sz="1200"/>
          </a:p>
        </p:txBody>
      </p:sp>
      <p:pic>
        <p:nvPicPr>
          <p:cNvPr id="18" name="Picture 10" descr="Thuật toán điều khiển chính xác PID - IDEA Techmart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847" y="2659754"/>
            <a:ext cx="2710552" cy="194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Việt Nam chế tạo thành công robot chống dịch Covid-19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619" y="5373307"/>
            <a:ext cx="2447007" cy="1169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4009320" y="4933137"/>
            <a:ext cx="2808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mtClean="0"/>
              <a:t>Robot vận chuyển đồ y tế: Tránh người, di chuyển theo người và line đã có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681</TotalTime>
  <Words>165</Words>
  <Application>Microsoft Office PowerPoint</Application>
  <PresentationFormat>A4 Paper (210x297 mm)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Hebrew Scholar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STMTLS</cp:lastModifiedBy>
  <cp:revision>93</cp:revision>
  <dcterms:created xsi:type="dcterms:W3CDTF">2023-07-02T07:57:15Z</dcterms:created>
  <dcterms:modified xsi:type="dcterms:W3CDTF">2025-11-17T04:50:11Z</dcterms:modified>
</cp:coreProperties>
</file>